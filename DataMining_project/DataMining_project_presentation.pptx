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0F327B-5DD1-86D8-72E2-F43F2247F530}" v="38" dt="2026-06-24T22:37:31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F6E47-8625-4BD7-AF86-265078727B1C}" type="datetimeFigureOut"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5A931-B3A4-4318-8D03-3E6958997F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3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Our project—Decoding Global E-Commerce—focused on analysing consumer sentiment across the Best Buy electronics platform. We scraped 1,800 reviews covering phones, laptops, headphones, and tablets, then ran a full NLP pipeline: from scraping and cleaning, through TF-IDF and BERT sentiment modelling, to LDA topic discovery and supervised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first tried to scrape eMAG — Romania's largest e-commerce platform — but hit strict anti-bot (403) blocks. Our scraper.py therefore fell back to generating 450 synthetic reviews that mirror real eMAG patterns. CEL.ro was technically accessible but yielded only ~50 reviews — too few for statistical modelling. We then downloaded the academic Amazon Reviews 2023 dataset from HuggingFace (electronics category) as a solid, real-world baseline. Finally, we successfully scraped Best Buy, obtaining 1,800 reviews that became our primary analysis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1: Data Cleaning and Preprocessing. Real-world web-scraped text is noisy — it contains HTML tags, special characters, promotional boilerplate, and stop words that confuse NLP algorithms. Our pipeline: loaded the raw CSV (1,800 rows, 9 columns); found zero nulls or absolute duplicates so no rows were dropped; converted text to lowercase; stripped the ubiquitous Best Buy promotional disclaimer 'Review collected as part of a promotion'; removed HTML tags, punctuation, and numbers; normalised diacritics via unicodedata.normalize; removed English stop words using NLTK; and engineered two new features — review_length (character count) and word_count — filtering out reviews with fewer than 3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3: EDA &amp; Visualisations. The rating distribution is J-shaped: 8% 1★, 12% 2★, 17% 3★, 27% 4★, 36% 5★ — a strong positive skew. Interestingly, in our Best Buy dataset, positive reviewers (5★) actually write longer reviews, going into enthusiastic detail about their experience. This is the opposite of the typical pattern seen in most review datasets, where dissatisfied customers (1–2★) tend to vent at length. This reversal is itself a notable finding worth discussing — it may reflect Best Buy's engaged buyer community or product quality in the electronics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4: TF-IDF (Term Frequency–Inverse Document Frequency). Simple word frequency counts are misleading because generic words like 'phone' or 'product' appear everywhere. TF-IDF weights words by how specific they are to a subset. For 5★ reviews the top drivers are: great, love, easy to use, camera, quality, battery, value, recommend, performance, sound, amazing. For 1★ reviews the key drivers are: return, bad, months (battery duration complaints), broken, hours, defect, issue, waste, 'would not recommend', stop, horrible. These emotional drivers directly map to what customers celebrate and what causes them to abandon a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5: BERT Sentiment Analysis. The real confusion matrix (n=200) shows: 1★: 6/10 correct; 2★: 2/4; 3★: 5/11; 4★: 16/27; 5★: 117/148. Total accuracy = 73%. Key insight: when the model is wrong, it almost always predicts an adjacent star rating — never predicting 1★ when the actual was 5★ or vice versa. The model reliably distinguishes positive from negative sentiment even when the exact star count is off. The 5★ class dominates the dataset (148 out of 200) and is the most accurately classified.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6: Topic Modelling via LDA. LDA is an unsupervised algorithm that discovers hidden themes across our review corpus without any labelling. We chose k=4 topics based on coherence evaluation. The four topics discovered were: (1) Performance &amp; Battery — dominated by positive reviews praising speed and battery life; (2) Value for Money — spread across all ratings; (3) Delivery &amp; Service — mostly neutral, centred on logistics; (4) Defects &amp; Returns — heavily clustered in 1–2★ reviews. The Defects &amp; Returns cluster is the most actionable insight: it pinpoints which products and categories generate return-driven frustration.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7: Supervised Classification. The ultimate goal was predictive — can a model read a review and classify it as positive or negative? We framed it as binary classification: Positive = 4 or 5 stars, Negative = 1 or 2 stars, dropping ambiguous 3-star reviews. Features: TF-IDF vectors with 1,000 features and unigrams+bigrams. We trained Logistic Regression, SVM (RBF kernel), and Random Forest, each tuned with GridSearchCV. Results: Logistic Regression achieved F1=0.90, SVM F1=0.89, Random Forest F1=0.84. Linear models dominate because TF-IDF matrices are sparse and high-dimensional — exactly the scenario where linear classifiers excel. As a bonus, the Logistic Regression coefficients mathematically validated our TF-IDF findings: 'return' and 'broken' carry the largest negative weights, while 'great' and 'love' carry the largest positive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summarise: this project demonstrates how to build a robust, end-to-end NLP pipeline even when data collection is difficult. Key results: 1,800 Best Buy reviews successfully scraped; preprocessing reduced noise significantly; EDA revealed a J-shaped rating distribution with negative reviewers writing longer reviews; TF-IDF isolated clear keyword drivers per sentiment; BERT achieved 73% exact-match accuracy on a 5-class sentiment task; LDA found 4 actionable themes; and Logistic Regression delivered F1=0.90 on the binary classification task. The entire pipeline is reusable for any e-commerce review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64592" cy="4937760"/>
          </a:xfrm>
          <a:prstGeom prst="rect">
            <a:avLst/>
          </a:prstGeom>
          <a:solidFill>
            <a:srgbClr val="2D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Decoding Global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Mining Best Buy Product Reviews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7432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C8EB"/>
                </a:solidFill>
              </a:rPr>
              <a:t>Data Mining Course Project ·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2461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7F5"/>
                </a:solidFill>
              </a:rPr>
              <a:t>1,800 scraped reviews · 4 electronics categories · Full NLP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960120"/>
            <a:ext cx="3246120" cy="4892040"/>
          </a:xfrm>
          <a:prstGeom prst="roundRect">
            <a:avLst/>
          </a:prstGeom>
          <a:solidFill>
            <a:srgbClr val="193560"/>
          </a:solidFill>
          <a:ln>
            <a:solidFill>
              <a:srgbClr val="385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60" y="132588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📦  Dataset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1,800 Best Buy reviews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Phones · Laptops · Headphones · Tablets</a:t>
            </a:r>
          </a:p>
          <a:p>
            <a:pPr algn="l">
              <a:spcAft>
                <a:spcPts val="400"/>
              </a:spcAft>
            </a:pPr>
            <a:endParaRPr sz="1400" b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🔧  Pipeline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Scraping → Preprocessing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EDA → TF-IDF → BERT → LDA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→ Supervised Classification</a:t>
            </a:r>
          </a:p>
          <a:p>
            <a:pPr algn="l">
              <a:spcAft>
                <a:spcPts val="400"/>
              </a:spcAft>
            </a:pPr>
            <a:endParaRPr sz="1400" b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🎯  Goal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Decode what drives satisfaction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and predict review sentiment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0" y="656539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Collection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486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DFEE"/>
                </a:solidFill>
              </a:rPr>
              <a:t>How we navigated anti-bot protections and assembled our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0" y="656539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051560"/>
            <a:ext cx="26974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51560"/>
            <a:ext cx="2697480" cy="32004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097280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1. eMAG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4630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294B"/>
                </a:solidFill>
              </a:rPr>
              <a:t>403 Forbidden — anti-bot blocks all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819656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069"/>
                </a:solidFill>
              </a:rPr>
              <a:t>Fallback: generated 450 synthetic reviews
mirroring real eMAG review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5349240"/>
            <a:ext cx="2423160" cy="475488"/>
          </a:xfrm>
          <a:prstGeom prst="roundRect">
            <a:avLst/>
          </a:prstGeom>
          <a:solidFill>
            <a:srgbClr val="F0F4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544068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294B"/>
                </a:solidFill>
              </a:rPr>
              <a:t>scraper.py + synthetic generator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44952" y="3611880"/>
            <a:ext cx="228600" cy="0"/>
          </a:xfrm>
          <a:prstGeom prst="line">
            <a:avLst/>
          </a:prstGeom>
          <a:ln w="2794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73552" y="1051560"/>
            <a:ext cx="26974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73552" y="1051560"/>
            <a:ext cx="26974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64992" y="1097280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2. CEL.ro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14630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Successfully scraped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1819656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069"/>
                </a:solidFill>
              </a:rPr>
              <a:t>Only ~50 reviews available — insufficient
for robust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5349240"/>
            <a:ext cx="2423160" cy="475488"/>
          </a:xfrm>
          <a:prstGeom prst="roundRect">
            <a:avLst/>
          </a:prstGeom>
          <a:solidFill>
            <a:srgbClr val="F0F4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02152" y="544068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294B"/>
                </a:solidFill>
              </a:rPr>
              <a:t>scraper.py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71032" y="3611880"/>
            <a:ext cx="228600" cy="0"/>
          </a:xfrm>
          <a:prstGeom prst="line">
            <a:avLst/>
          </a:prstGeom>
          <a:ln w="2794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99632" y="1051560"/>
            <a:ext cx="26974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1051560"/>
            <a:ext cx="2697480" cy="320040"/>
          </a:xfrm>
          <a:prstGeom prst="rect">
            <a:avLst/>
          </a:prstGeom>
          <a:solidFill>
            <a:srgbClr val="2D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91072" y="1097280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3. Amazon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14630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9496"/>
                </a:solidFill>
              </a:rPr>
              <a:t>No scraping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1819656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069"/>
                </a:solidFill>
              </a:rPr>
              <a:t>Downloaded Amazon Reviews 2023 academic
dataset via HuggingFace — electronics filter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5349240"/>
            <a:ext cx="2423160" cy="475488"/>
          </a:xfrm>
          <a:prstGeom prst="roundRect">
            <a:avLst/>
          </a:prstGeom>
          <a:solidFill>
            <a:srgbClr val="F0F4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2" y="544068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294B"/>
                </a:solidFill>
              </a:rPr>
              <a:t>download_amazon.py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97112" y="3611880"/>
            <a:ext cx="228600" cy="0"/>
          </a:xfrm>
          <a:prstGeom prst="line">
            <a:avLst/>
          </a:prstGeom>
          <a:ln w="2794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25712" y="1051560"/>
            <a:ext cx="26974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25712" y="1051560"/>
            <a:ext cx="2697480" cy="320040"/>
          </a:xfrm>
          <a:prstGeom prst="rect">
            <a:avLst/>
          </a:prstGeom>
          <a:solidFill>
            <a:srgbClr val="3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17152" y="1097280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4. Best 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14630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663AB"/>
                </a:solidFill>
              </a:rPr>
              <a:t>Successfully scraped 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1819656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069"/>
                </a:solidFill>
              </a:rPr>
              <a:t>1,800 reviews across 4 categories — our
primary analysis dataset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62872" y="5349240"/>
            <a:ext cx="2423160" cy="475488"/>
          </a:xfrm>
          <a:prstGeom prst="roundRect">
            <a:avLst/>
          </a:prstGeom>
          <a:solidFill>
            <a:srgbClr val="F0F4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54312" y="544068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294B"/>
                </a:solidFill>
              </a:rPr>
              <a:t>scrape_bestbuy.py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Cleaning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486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DFEE"/>
                </a:solidFill>
              </a:rPr>
              <a:t>Topic 1 · Turning raw scraped text into NLP-ready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0" y="656539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94B"/>
                </a:solidFill>
              </a:rPr>
              <a:t>① Load raw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234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1,800 rows · 9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94B"/>
                </a:solidFill>
              </a:rPr>
              <a:t>② Drop nulls &amp; duplicates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830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0 rows removed — dataset already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94B"/>
                </a:solidFill>
              </a:rPr>
              <a:t>③ Lowercase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317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Standardise casing for tokenisation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94B"/>
                </a:solidFill>
              </a:rPr>
              <a:t>④ Remove promo disclaimers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803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Strip 'Review collected as part of…' boilerplate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94B"/>
                </a:solidFill>
              </a:rPr>
              <a:t>⑤ Strip HTML &amp; punctuation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290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Remove tags, special chars,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94B"/>
                </a:solidFill>
              </a:rPr>
              <a:t>⑥ Normalise diacritics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776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unicodedata.normalize(NFKD) → ASCII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26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94B"/>
                </a:solidFill>
              </a:rPr>
              <a:t>⑦ Remove stop 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262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NLTK English stop-word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74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94B"/>
                </a:solidFill>
              </a:rPr>
              <a:t>⑧ Feature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749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review_length (chars) · word_count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051560"/>
            <a:ext cx="5486400" cy="5120640"/>
          </a:xfrm>
          <a:prstGeom prst="roundRect">
            <a:avLst/>
          </a:prstGeom>
          <a:solidFill>
            <a:srgbClr val="F0F4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1234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94B"/>
                </a:solidFill>
              </a:rPr>
              <a:t>Before → 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6276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069"/>
                </a:solidFill>
              </a:rPr>
              <a:t>Raw review text: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87451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"This review was collected as part of a promotion. I recently switched to the Google Pixel 10 after using iPhone — the performance is amazing…"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8346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</a:rPr>
              <a:t>After cleaning (clean_text):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09067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294B"/>
                </a:solidFill>
              </a:rPr>
              <a:t>"recently switched google pixel using iphone performance amazing…"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794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663AB"/>
                </a:solidFill>
              </a:rPr>
              <a:t>Engineered features: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4164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86069"/>
                </a:solidFill>
              </a:rPr>
              <a:t>word_count = 122   |   review_length = 635 chars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86069"/>
                </a:solidFill>
              </a:rPr>
              <a:t>Filtered: kept only reviews with word_count &gt;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486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DFEE"/>
                </a:solidFill>
              </a:rPr>
              <a:t>Topic 3 · Rating distributions, word counts, and cross-platform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0" y="656539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</a:rPr>
              <a:t>Rating Distribution (Best Buy, n=1,800)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83760"/>
            <a:ext cx="502920" cy="711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" y="4409440"/>
            <a:ext cx="576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94B"/>
                </a:solidFill>
              </a:rPr>
              <a:t>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5431536"/>
            <a:ext cx="576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1★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9072" y="4328160"/>
            <a:ext cx="502920" cy="1066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82496" y="4053840"/>
            <a:ext cx="576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94B"/>
                </a:solidFill>
              </a:rPr>
              <a:t>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2496" y="5431536"/>
            <a:ext cx="576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2★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3883660"/>
            <a:ext cx="502920" cy="1511300"/>
          </a:xfrm>
          <a:prstGeom prst="rect">
            <a:avLst/>
          </a:prstGeom>
          <a:solidFill>
            <a:srgbClr val="FA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24328" y="3609340"/>
            <a:ext cx="576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94B"/>
                </a:solidFill>
              </a:rPr>
              <a:t>17%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5431536"/>
            <a:ext cx="576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3★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2736" y="2994660"/>
            <a:ext cx="502920" cy="2400300"/>
          </a:xfrm>
          <a:prstGeom prst="rect">
            <a:avLst/>
          </a:prstGeom>
          <a:solidFill>
            <a:srgbClr val="2D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0" y="2720340"/>
            <a:ext cx="576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94B"/>
                </a:solidFill>
              </a:rPr>
              <a:t>27%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431536"/>
            <a:ext cx="576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4★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4568" y="2194560"/>
            <a:ext cx="502920" cy="3200400"/>
          </a:xfrm>
          <a:prstGeom prst="rect">
            <a:avLst/>
          </a:prstGeom>
          <a:solidFill>
            <a:srgbClr val="3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7992" y="1920240"/>
            <a:ext cx="576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94B"/>
                </a:solidFill>
              </a:rPr>
              <a:t>36%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5431536"/>
            <a:ext cx="576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5★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1051560"/>
            <a:ext cx="5897880" cy="5120640"/>
          </a:xfrm>
          <a:prstGeom prst="roundRect">
            <a:avLst/>
          </a:prstGeom>
          <a:solidFill>
            <a:srgbClr val="F0F4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0" y="12618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🔵 </a:t>
            </a:r>
            <a:r>
              <a:rPr sz="1300" b="1">
                <a:solidFill>
                  <a:srgbClr val="13294B"/>
                </a:solidFill>
              </a:rPr>
              <a:t>J-shaped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545336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64% of reviews are 4★ or 5★ —
highly positive skew.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4048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📝 </a:t>
            </a:r>
            <a:r>
              <a:rPr sz="1300" b="1">
                <a:solidFill>
                  <a:srgbClr val="16A34A"/>
                </a:solidFill>
              </a:rPr>
              <a:t>Positive reviewers write 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688336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In our dataset, 5★ reviews are longer —
enthusiastic buyers go into more detail.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5478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⚠️ </a:t>
            </a:r>
            <a:r>
              <a:rPr sz="1300" b="1">
                <a:solidFill>
                  <a:srgbClr val="F59E0B"/>
                </a:solidFill>
              </a:rPr>
              <a:t>Opposite of the usual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831335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Typically, dissatisfied customers write longer
reviews (venting frustration). This dataset
shows the reverse — a notable finding.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6908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📦 </a:t>
            </a:r>
            <a:r>
              <a:rPr sz="1300" b="1">
                <a:solidFill>
                  <a:srgbClr val="3663AB"/>
                </a:solidFill>
              </a:rPr>
              <a:t>Category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974336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Phones · Laptops · Headphones · Tablets
450 reviews each, balanced split.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TF-IDF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486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DFEE"/>
                </a:solidFill>
              </a:rPr>
              <a:t>Topic 4 · Extracting the defining words that drive satisfaction vs dissatisfaction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0" y="656539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53035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</a:rPr>
              <a:t>Top TF-IDF Terms · 5★ Reviews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691640"/>
            <a:ext cx="31089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6916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great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95544" y="16916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039112"/>
            <a:ext cx="28067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0391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love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284" y="203911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386584"/>
            <a:ext cx="263398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3865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easy to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564" y="238658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2734056"/>
            <a:ext cx="250444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73405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camera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1024" y="27340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0.058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081527"/>
            <a:ext cx="233172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0815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4" y="3081527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0.054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428999"/>
            <a:ext cx="220218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342899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battery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8764" y="3428999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0.051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3776472"/>
            <a:ext cx="207264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377647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9224" y="37764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0.048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4123944"/>
            <a:ext cx="198628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412394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recommend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2864" y="412394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0.046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4471416"/>
            <a:ext cx="185674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44714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3324" y="447141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0.043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4818888"/>
            <a:ext cx="17272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8188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sound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3784" y="48188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0.040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5166359"/>
            <a:ext cx="164084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516635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amazing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7424" y="5166359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0.038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80760" y="1051560"/>
            <a:ext cx="5669280" cy="5120640"/>
          </a:xfrm>
          <a:prstGeom prst="roundRect">
            <a:avLst/>
          </a:prstGeom>
          <a:solidFill>
            <a:srgbClr val="FFF7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12618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Top TF-IDF Terms · 1★ Reviews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1691640"/>
            <a:ext cx="306324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36792" y="16916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return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9144" y="16916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0.081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2039112"/>
            <a:ext cx="2798515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36792" y="20391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bad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74419" y="20391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0.074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1040" y="2386584"/>
            <a:ext cx="2609426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36792" y="23865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months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85330" y="238658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0.069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2734056"/>
            <a:ext cx="2458155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36792" y="27340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broken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34059" y="2734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0.065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3081527"/>
            <a:ext cx="2306884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36792" y="3081527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hours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82788" y="3081527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0.061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3428999"/>
            <a:ext cx="2193431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36792" y="342899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defect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69335" y="3428999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0.058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3776472"/>
            <a:ext cx="2042159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36792" y="37764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issue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18064" y="3776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0.054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4123944"/>
            <a:ext cx="1890888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336792" y="41239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waste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66792" y="412394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4471416"/>
            <a:ext cx="1777435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36792" y="44714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would not recommend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53339" y="447141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0.047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21040" y="4818888"/>
            <a:ext cx="1663982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36792" y="48188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stop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39886" y="48188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0.044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5166359"/>
            <a:ext cx="1550528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336792" y="516635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3294B"/>
                </a:solidFill>
              </a:rPr>
              <a:t>horrible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26432" y="5166359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069"/>
                </a:solidFill>
              </a:rPr>
              <a:t>0.041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BERT 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486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DFEE"/>
                </a:solidFill>
              </a:rPr>
              <a:t>Topic 5 · Multilingual BERT predicts exact 1–5 star ratings from raw review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0" y="656539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60807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294B"/>
                </a:solidFill>
              </a:rPr>
              <a:t>Confusion Matrix: Actual vs BERT Predicted Stars (n=200)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</a:rPr>
              <a:t>Model: nlptown/bert-base-multilingual-uncased-sentiment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2097" y="532253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6069"/>
                </a:solidFill>
              </a:rPr>
              <a:t>← BERT Predicted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38528"/>
            <a:ext cx="658368" cy="658368"/>
          </a:xfrm>
          <a:prstGeom prst="rect">
            <a:avLst/>
          </a:prstGeom>
          <a:solidFill>
            <a:srgbClr val="F4F45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12140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1938528"/>
            <a:ext cx="658368" cy="658368"/>
          </a:xfrm>
          <a:prstGeom prst="rect">
            <a:avLst/>
          </a:prstGeom>
          <a:solidFill>
            <a:srgbClr val="FB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29968" y="212140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88336" y="1938528"/>
            <a:ext cx="658368" cy="658368"/>
          </a:xfrm>
          <a:prstGeom prst="rect">
            <a:avLst/>
          </a:prstGeom>
          <a:solidFill>
            <a:srgbClr val="FE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88336" y="212140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46704" y="1938528"/>
            <a:ext cx="658368" cy="658368"/>
          </a:xfrm>
          <a:prstGeom prst="rect">
            <a:avLst/>
          </a:prstGeom>
          <a:solidFill>
            <a:srgbClr val="FF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46704" y="212140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05072" y="1938528"/>
            <a:ext cx="658368" cy="658368"/>
          </a:xfrm>
          <a:prstGeom prst="rect">
            <a:avLst/>
          </a:prstGeom>
          <a:solidFill>
            <a:srgbClr val="FF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05072" y="212140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212140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596896"/>
            <a:ext cx="658368" cy="658368"/>
          </a:xfrm>
          <a:prstGeom prst="rect">
            <a:avLst/>
          </a:prstGeom>
          <a:solidFill>
            <a:srgbClr val="FF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2779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9968" y="2596896"/>
            <a:ext cx="658368" cy="658368"/>
          </a:xfrm>
          <a:prstGeom prst="rect">
            <a:avLst/>
          </a:prstGeom>
          <a:solidFill>
            <a:srgbClr val="FCFC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29968" y="2779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88336" y="2596896"/>
            <a:ext cx="658368" cy="658368"/>
          </a:xfrm>
          <a:prstGeom prst="rect">
            <a:avLst/>
          </a:prstGeom>
          <a:solidFill>
            <a:srgbClr val="FE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88336" y="2779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46704" y="2596896"/>
            <a:ext cx="658368" cy="658368"/>
          </a:xfrm>
          <a:prstGeom prst="rect">
            <a:avLst/>
          </a:prstGeom>
          <a:solidFill>
            <a:srgbClr val="FE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46704" y="2779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5072" y="2596896"/>
            <a:ext cx="658368" cy="658368"/>
          </a:xfrm>
          <a:prstGeom prst="rect">
            <a:avLst/>
          </a:prstGeom>
          <a:solidFill>
            <a:srgbClr val="FF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05072" y="2779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3255264"/>
            <a:ext cx="658368" cy="658368"/>
          </a:xfrm>
          <a:prstGeom prst="rect">
            <a:avLst/>
          </a:prstGeom>
          <a:solidFill>
            <a:srgbClr val="FE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34381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29968" y="3255264"/>
            <a:ext cx="658368" cy="658368"/>
          </a:xfrm>
          <a:prstGeom prst="rect">
            <a:avLst/>
          </a:prstGeom>
          <a:solidFill>
            <a:srgbClr val="FD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29968" y="34381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88336" y="3255264"/>
            <a:ext cx="658368" cy="658368"/>
          </a:xfrm>
          <a:prstGeom prst="rect">
            <a:avLst/>
          </a:prstGeom>
          <a:solidFill>
            <a:srgbClr val="F6F6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88336" y="34381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46704" y="3255264"/>
            <a:ext cx="658368" cy="658368"/>
          </a:xfrm>
          <a:prstGeom prst="rect">
            <a:avLst/>
          </a:prstGeom>
          <a:solidFill>
            <a:srgbClr val="FB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46704" y="34381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5072" y="3255264"/>
            <a:ext cx="658368" cy="658368"/>
          </a:xfrm>
          <a:prstGeom prst="rect">
            <a:avLst/>
          </a:prstGeom>
          <a:solidFill>
            <a:srgbClr val="FF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05072" y="34381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" y="3438144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0" y="3913632"/>
            <a:ext cx="658368" cy="658368"/>
          </a:xfrm>
          <a:prstGeom prst="rect">
            <a:avLst/>
          </a:prstGeom>
          <a:solidFill>
            <a:srgbClr val="FE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371600" y="409651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29968" y="3913632"/>
            <a:ext cx="658368" cy="658368"/>
          </a:xfrm>
          <a:prstGeom prst="rect">
            <a:avLst/>
          </a:prstGeom>
          <a:solidFill>
            <a:srgbClr val="FF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029968" y="409651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88336" y="3913632"/>
            <a:ext cx="658368" cy="658368"/>
          </a:xfrm>
          <a:prstGeom prst="rect">
            <a:avLst/>
          </a:prstGeom>
          <a:solidFill>
            <a:srgbClr val="FB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88336" y="409651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46704" y="3913632"/>
            <a:ext cx="658368" cy="658368"/>
          </a:xfrm>
          <a:prstGeom prst="rect">
            <a:avLst/>
          </a:prstGeom>
          <a:solidFill>
            <a:srgbClr val="E0E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46704" y="409651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16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05072" y="3913632"/>
            <a:ext cx="658368" cy="658368"/>
          </a:xfrm>
          <a:prstGeom prst="rect">
            <a:avLst/>
          </a:prstGeom>
          <a:solidFill>
            <a:srgbClr val="F6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05072" y="409651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" y="40965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4572000"/>
            <a:ext cx="658368" cy="658368"/>
          </a:xfrm>
          <a:prstGeom prst="rect">
            <a:avLst/>
          </a:prstGeom>
          <a:solidFill>
            <a:srgbClr val="FF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71600" y="475488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29968" y="4572000"/>
            <a:ext cx="658368" cy="658368"/>
          </a:xfrm>
          <a:prstGeom prst="rect">
            <a:avLst/>
          </a:prstGeom>
          <a:solidFill>
            <a:srgbClr val="FE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29968" y="475488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88336" y="4572000"/>
            <a:ext cx="658368" cy="658368"/>
          </a:xfrm>
          <a:prstGeom prst="rect">
            <a:avLst/>
          </a:prstGeom>
          <a:solidFill>
            <a:srgbClr val="FE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88336" y="475488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46704" y="4572000"/>
            <a:ext cx="658368" cy="658368"/>
          </a:xfrm>
          <a:prstGeom prst="rect">
            <a:avLst/>
          </a:prstGeom>
          <a:solidFill>
            <a:srgbClr val="D8E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346704" y="475488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94B"/>
                </a:solidFill>
              </a:rPr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05072" y="4572000"/>
            <a:ext cx="658368" cy="658368"/>
          </a:xfrm>
          <a:prstGeom prst="rect">
            <a:avLst/>
          </a:prstGeom>
          <a:solidFill>
            <a:srgbClr val="1929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05072" y="475488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117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2" y="475488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54480" y="164592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12848" y="164592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71216" y="164592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29584" y="164592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87952" y="164592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069"/>
                </a:solidFill>
              </a:rPr>
              <a:t>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12280" y="1051560"/>
            <a:ext cx="4937760" cy="5120640"/>
          </a:xfrm>
          <a:prstGeom prst="roundRect">
            <a:avLst/>
          </a:prstGeom>
          <a:solidFill>
            <a:srgbClr val="F0F4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7114032" y="1417320"/>
            <a:ext cx="4315968" cy="932688"/>
          </a:xfrm>
          <a:prstGeom prst="roundRect">
            <a:avLst/>
          </a:prstGeom>
          <a:solidFill>
            <a:srgbClr val="3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114032" y="1508760"/>
            <a:ext cx="4315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73.0%  Accuracy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14032" y="1837943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146 / 200 exact star matches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6600" y="257860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94B"/>
                </a:solidFill>
              </a:rPr>
              <a:t>Per-class correct predictions: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86600" y="2880360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294B"/>
                </a:solidFill>
              </a:rPr>
              <a:t>1★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71231" y="2898648"/>
            <a:ext cx="192024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546335" y="288036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</a:rPr>
              <a:t>6/10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86600" y="320954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294B"/>
                </a:solidFill>
              </a:rPr>
              <a:t>2★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71231" y="3227832"/>
            <a:ext cx="160020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26295" y="32095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</a:rPr>
              <a:t>2/4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86600" y="3538727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294B"/>
                </a:solidFill>
              </a:rPr>
              <a:t>3★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71231" y="3557015"/>
            <a:ext cx="1454727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080822" y="3538727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</a:rPr>
              <a:t>5/11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86600" y="3867911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294B"/>
                </a:solidFill>
              </a:rPr>
              <a:t>4★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71231" y="3886199"/>
            <a:ext cx="1896533" cy="182880"/>
          </a:xfrm>
          <a:prstGeom prst="rect">
            <a:avLst/>
          </a:prstGeom>
          <a:solidFill>
            <a:srgbClr val="2D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522628" y="3867911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</a:rPr>
              <a:t>16/27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86600" y="4197096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294B"/>
                </a:solidFill>
              </a:rPr>
              <a:t>5★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571231" y="4215383"/>
            <a:ext cx="2530045" cy="182880"/>
          </a:xfrm>
          <a:prstGeom prst="rect">
            <a:avLst/>
          </a:prstGeom>
          <a:solidFill>
            <a:srgbClr val="3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156140" y="419709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</a:rPr>
              <a:t>117/148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86600" y="4681728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86069"/>
                </a:solidFill>
              </a:rPr>
              <a:t>Errors are almost always ±1 star 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6069"/>
                </a:solidFill>
              </a:rPr>
              <a:t>direction (pos/neg) is highly accurate.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C148E5D-B1FB-24CF-8C9F-65F82D972A8A}"/>
              </a:ext>
            </a:extLst>
          </p:cNvPr>
          <p:cNvSpPr txBox="1"/>
          <p:nvPr/>
        </p:nvSpPr>
        <p:spPr>
          <a:xfrm>
            <a:off x="980063" y="2790289"/>
            <a:ext cx="29401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rgbClr val="586069"/>
                </a:solidFill>
                <a:ea typeface="Calibri"/>
                <a:cs typeface="Calibri"/>
              </a:rPr>
              <a:t>2</a:t>
            </a:r>
            <a:endParaRPr lang="en-US" sz="1100" dirty="0">
              <a:solidFill>
                <a:srgbClr val="586069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LDA Topic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486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DFEE"/>
                </a:solidFill>
              </a:rPr>
              <a:t>Topic 6 · Unsupervised discovery of latent themes across 1,800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0" y="656539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2280" y="1150257"/>
            <a:ext cx="2593703" cy="513080"/>
          </a:xfrm>
          <a:prstGeom prst="rect">
            <a:avLst/>
          </a:prstGeom>
          <a:solidFill>
            <a:srgbClr val="3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188720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Performance
&amp;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6069"/>
                </a:solidFill>
              </a:rPr>
              <a:t>Key terms: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3294B"/>
                </a:solidFill>
              </a:rPr>
              <a:t>battery · life · hours · fast · processor ·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2377440" cy="502920"/>
          </a:xfrm>
          <a:prstGeom prst="round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663AB"/>
                </a:solidFill>
              </a:rPr>
              <a:t>Dominant in 4★–5★ reviews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11430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9272" y="1150257"/>
            <a:ext cx="2651760" cy="513080"/>
          </a:xfrm>
          <a:prstGeom prst="rect">
            <a:avLst/>
          </a:prstGeom>
          <a:solidFill>
            <a:srgbClr val="2D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1188720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Value
for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16642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6069"/>
                </a:solidFill>
              </a:rPr>
              <a:t>Key terms: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190195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3294B"/>
                </a:solidFill>
              </a:rPr>
              <a:t>price · worth · deal · money · affordable · budget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2926080"/>
            <a:ext cx="2377440" cy="502920"/>
          </a:xfrm>
          <a:prstGeom prst="round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02152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663AB"/>
                </a:solidFill>
              </a:rPr>
              <a:t>Spans all rating groups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11430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8835" y="1157514"/>
            <a:ext cx="2666274" cy="4913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1188720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Delivery
&amp;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6642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6069"/>
                </a:solidFill>
              </a:rPr>
              <a:t>Key terms: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190195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3294B"/>
                </a:solidFill>
              </a:rPr>
              <a:t>delivery · shipping · package · arrived · customer ·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2926080"/>
            <a:ext cx="2377440" cy="502920"/>
          </a:xfrm>
          <a:prstGeom prst="round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663AB"/>
                </a:solidFill>
              </a:rPr>
              <a:t>Mostly neutral 3★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856" y="11430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63884" y="1164771"/>
            <a:ext cx="2629989" cy="49856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66355" y="1181463"/>
            <a:ext cx="2388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Defects
&amp; Returns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2016" y="16642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6069"/>
                </a:solidFill>
              </a:rPr>
              <a:t>Key terms: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190195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3294B"/>
                </a:solidFill>
              </a:rPr>
              <a:t>return · broken · stop · defect · issue · replace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72016" y="2926080"/>
            <a:ext cx="237744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17736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⚠ Heavily clusters 1★–2★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8006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86069"/>
                </a:solidFill>
              </a:rPr>
              <a:t>Latent Dirichlet Allocation (LDA) groups reviews into topics without supervision — we chose k=4 topics based on coherence scores.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86069"/>
                </a:solidFill>
              </a:rPr>
              <a:t>The 'Defects &amp; Returns' topic provides directly actionable business intelligence: which product lines generate the most complaint-driven reviews.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Supervised Sentiment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486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DFEE"/>
                </a:solidFill>
              </a:rPr>
              <a:t>Topic 7 · Binary classification: can a machine read a review and predict positive or negative?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0" y="656539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38404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</a:rPr>
              <a:t>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86069"/>
                </a:solidFill>
              </a:rPr>
              <a:t>Problem formulation: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86069"/>
                </a:solidFill>
              </a:rPr>
              <a:t>Binary: Pos (4–5★) vs Neg (1–2★)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86069"/>
                </a:solidFill>
              </a:rPr>
              <a:t>Dropped 3★ (ambiguous neutral)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586069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86069"/>
                </a:solidFill>
              </a:rPr>
              <a:t>Features: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86069"/>
                </a:solidFill>
              </a:rPr>
              <a:t>TF-IDF vectors (max 1,000 features,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86069"/>
                </a:solidFill>
              </a:rPr>
              <a:t>unigrams + bigrams)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586069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86069"/>
                </a:solidFill>
              </a:rPr>
              <a:t>Train / Test split: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86069"/>
                </a:solidFill>
              </a:rPr>
              <a:t>80% train · 20% test (seed=42)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586069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86069"/>
                </a:solidFill>
              </a:rPr>
              <a:t>Hyperparameter tuning: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86069"/>
                </a:solidFill>
              </a:rPr>
              <a:t>GridSearchCV on each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051560"/>
            <a:ext cx="71780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28032" y="12344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</a:rPr>
              <a:t>Model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8032" y="1627632"/>
            <a:ext cx="1645920" cy="38404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73752" y="1673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3952" y="1627632"/>
            <a:ext cx="914400" cy="38404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6733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1627632"/>
            <a:ext cx="914400" cy="38404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34072" y="16733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1627632"/>
            <a:ext cx="777240" cy="38404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67335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79992" y="1627632"/>
            <a:ext cx="2743200" cy="38404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25712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Why it works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28032" y="2029968"/>
            <a:ext cx="1645920" cy="768096"/>
          </a:xfrm>
          <a:prstGeom prst="rect">
            <a:avLst/>
          </a:prstGeom>
          <a:solidFill>
            <a:srgbClr val="EB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2231136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663AB"/>
                </a:solidFill>
              </a:rPr>
              <a:t>Logistic Regression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2" y="2029968"/>
            <a:ext cx="914400" cy="768096"/>
          </a:xfrm>
          <a:prstGeom prst="rect">
            <a:avLst/>
          </a:prstGeom>
          <a:solidFill>
            <a:srgbClr val="EB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2231136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0.91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88352" y="2029968"/>
            <a:ext cx="914400" cy="768096"/>
          </a:xfrm>
          <a:prstGeom prst="rect">
            <a:avLst/>
          </a:prstGeom>
          <a:solidFill>
            <a:srgbClr val="EB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52360" y="2231136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0.89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2752" y="2029968"/>
            <a:ext cx="777240" cy="768096"/>
          </a:xfrm>
          <a:prstGeom prst="rect">
            <a:avLst/>
          </a:prstGeom>
          <a:solidFill>
            <a:srgbClr val="EB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2231136"/>
            <a:ext cx="649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0.90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79992" y="2029968"/>
            <a:ext cx="2743200" cy="768096"/>
          </a:xfrm>
          <a:prstGeom prst="rect">
            <a:avLst/>
          </a:prstGeom>
          <a:solidFill>
            <a:srgbClr val="EB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0" y="2231136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Sparse TF-IDF → linear separation ideal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28032" y="2432304"/>
            <a:ext cx="1645920" cy="768096"/>
          </a:xfrm>
          <a:prstGeom prst="rect">
            <a:avLst/>
          </a:prstGeom>
          <a:solidFill>
            <a:srgbClr val="EB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2633472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D9496"/>
                </a:solidFill>
              </a:rPr>
              <a:t>SVM (RBF)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3952" y="2432304"/>
            <a:ext cx="914400" cy="768096"/>
          </a:xfrm>
          <a:prstGeom prst="rect">
            <a:avLst/>
          </a:prstGeom>
          <a:solidFill>
            <a:srgbClr val="EB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2633472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0.90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8352" y="2432304"/>
            <a:ext cx="914400" cy="768096"/>
          </a:xfrm>
          <a:prstGeom prst="rect">
            <a:avLst/>
          </a:prstGeom>
          <a:solidFill>
            <a:srgbClr val="EB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52360" y="2633472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0.88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02752" y="2432304"/>
            <a:ext cx="777240" cy="768096"/>
          </a:xfrm>
          <a:prstGeom prst="rect">
            <a:avLst/>
          </a:prstGeom>
          <a:solidFill>
            <a:srgbClr val="EB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66760" y="2633472"/>
            <a:ext cx="649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0.89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79992" y="2432304"/>
            <a:ext cx="2743200" cy="768096"/>
          </a:xfrm>
          <a:prstGeom prst="rect">
            <a:avLst/>
          </a:prstGeom>
          <a:solidFill>
            <a:srgbClr val="EB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0" y="2633472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Maximises margin in high-dim space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28032" y="2834640"/>
            <a:ext cx="16459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92040" y="3035808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Random Forest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73952" y="2834640"/>
            <a:ext cx="914400" cy="768096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60" y="3035808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0.85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88352" y="2834640"/>
            <a:ext cx="914400" cy="768096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52360" y="3035808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0.83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02752" y="2834640"/>
            <a:ext cx="777240" cy="768096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66760" y="3035808"/>
            <a:ext cx="649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0.84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79992" y="2834640"/>
            <a:ext cx="2743200" cy="768096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44000" y="3035808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3294B"/>
                </a:solidFill>
              </a:rPr>
              <a:t>Nonlinear baseline; higher variance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28032" y="42062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069"/>
                </a:solidFill>
              </a:rPr>
              <a:t>★ Logistic Regression coefficients confirmed the TF-IDF keyword findings — 'return', 'broken' → strong negative weights; 'great', 'love' → strong positive.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From Data Friction to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486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DFEE"/>
                </a:solidFill>
              </a:rPr>
              <a:t>Summary · Key findings and the reusable pipeline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0" y="656539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2286000"/>
            <a:ext cx="1234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2286000"/>
            <a:ext cx="1234440" cy="292608"/>
          </a:xfrm>
          <a:prstGeom prst="rect">
            <a:avLst/>
          </a:prstGeom>
          <a:solidFill>
            <a:srgbClr val="3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322576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Scrape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1106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6069"/>
                </a:solidFill>
              </a:rPr>
              <a:t>Best Buy API
1,800 reviews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81912" y="2990088"/>
            <a:ext cx="155448" cy="0"/>
          </a:xfrm>
          <a:prstGeom prst="line">
            <a:avLst/>
          </a:prstGeom>
          <a:ln w="228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737360" y="2286000"/>
            <a:ext cx="1234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37360" y="2286000"/>
            <a:ext cx="123444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1368" y="2322576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2651760"/>
            <a:ext cx="1106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6069"/>
                </a:solidFill>
              </a:rPr>
              <a:t>Synthetic gen.
for eMAG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1800" y="2990088"/>
            <a:ext cx="155448" cy="0"/>
          </a:xfrm>
          <a:prstGeom prst="line">
            <a:avLst/>
          </a:prstGeom>
          <a:ln w="228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27248" y="2286000"/>
            <a:ext cx="1234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27248" y="2286000"/>
            <a:ext cx="1234440" cy="292608"/>
          </a:xfrm>
          <a:prstGeom prst="rect">
            <a:avLst/>
          </a:prstGeom>
          <a:solidFill>
            <a:srgbClr val="2D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91256" y="2322576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1256" y="2651760"/>
            <a:ext cx="1106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6069"/>
                </a:solidFill>
              </a:rPr>
              <a:t>Stop words
Diacritics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61688" y="2990088"/>
            <a:ext cx="155448" cy="0"/>
          </a:xfrm>
          <a:prstGeom prst="line">
            <a:avLst/>
          </a:prstGeom>
          <a:ln w="228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17136" y="2286000"/>
            <a:ext cx="1234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17136" y="2286000"/>
            <a:ext cx="123444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81144" y="2322576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2651760"/>
            <a:ext cx="1106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6069"/>
                </a:solidFill>
              </a:rPr>
              <a:t>J-shaped dist.
Word stats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51576" y="2990088"/>
            <a:ext cx="155448" cy="0"/>
          </a:xfrm>
          <a:prstGeom prst="line">
            <a:avLst/>
          </a:prstGeom>
          <a:ln w="228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07024" y="2286000"/>
            <a:ext cx="1234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07024" y="2286000"/>
            <a:ext cx="1234440" cy="292608"/>
          </a:xfrm>
          <a:prstGeom prst="rect">
            <a:avLst/>
          </a:prstGeom>
          <a:solidFill>
            <a:srgbClr val="3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71032" y="2322576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1032" y="2651760"/>
            <a:ext cx="1106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6069"/>
                </a:solidFill>
              </a:rPr>
              <a:t>Keyword
drivers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41464" y="2990088"/>
            <a:ext cx="155448" cy="0"/>
          </a:xfrm>
          <a:prstGeom prst="line">
            <a:avLst/>
          </a:prstGeom>
          <a:ln w="228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296912" y="2286000"/>
            <a:ext cx="1234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96912" y="2286000"/>
            <a:ext cx="123444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60920" y="2322576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651760"/>
            <a:ext cx="1106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6069"/>
                </a:solidFill>
              </a:rPr>
              <a:t>73% accuracy
±1 star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31352" y="2990088"/>
            <a:ext cx="155448" cy="0"/>
          </a:xfrm>
          <a:prstGeom prst="line">
            <a:avLst/>
          </a:prstGeom>
          <a:ln w="228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686800" y="2286000"/>
            <a:ext cx="1234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686800" y="2286000"/>
            <a:ext cx="123444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50808" y="2322576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0808" y="2651760"/>
            <a:ext cx="1106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6069"/>
                </a:solidFill>
              </a:rPr>
              <a:t>4 topics
discovered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21240" y="2990088"/>
            <a:ext cx="155448" cy="0"/>
          </a:xfrm>
          <a:prstGeom prst="line">
            <a:avLst/>
          </a:prstGeom>
          <a:ln w="228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076688" y="2286000"/>
            <a:ext cx="1234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076688" y="2286000"/>
            <a:ext cx="1234440" cy="2926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40696" y="2322576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Classify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0696" y="2651760"/>
            <a:ext cx="1106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6069"/>
                </a:solidFill>
              </a:rPr>
              <a:t>LR F1=0.90
SVM F1=0.89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04164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</a:rPr>
              <a:t>Key Takeaways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370832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3294B"/>
                </a:solidFill>
              </a:rPr>
              <a:t>Scraping resilience matters: </a:t>
            </a:r>
            <a:r>
              <a:rPr sz="1200" b="0">
                <a:solidFill>
                  <a:srgbClr val="586069"/>
                </a:solidFill>
              </a:rPr>
              <a:t>anti-bot fallback and multi-source strategy are essential for real projects.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477316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3294B"/>
                </a:solidFill>
              </a:rPr>
              <a:t>Positive skew is universal: </a:t>
            </a:r>
            <a:r>
              <a:rPr sz="1200" b="0">
                <a:solidFill>
                  <a:srgbClr val="586069"/>
                </a:solidFill>
              </a:rPr>
              <a:t>J-shaped ratings dominate consumer platforms — model training must account for class imbalance.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175504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3294B"/>
                </a:solidFill>
              </a:rPr>
              <a:t>TF-IDF + linear models = powerful baseline: </a:t>
            </a:r>
            <a:r>
              <a:rPr sz="1200" b="0">
                <a:solidFill>
                  <a:srgbClr val="586069"/>
                </a:solidFill>
              </a:rPr>
              <a:t>Logistic Regression F1=0.90 with interpretable coefficients.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577840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3294B"/>
                </a:solidFill>
              </a:rPr>
              <a:t>BERT adds depth: </a:t>
            </a:r>
            <a:r>
              <a:rPr sz="1200" b="0">
                <a:solidFill>
                  <a:srgbClr val="586069"/>
                </a:solidFill>
              </a:rPr>
              <a:t>73% exact star accuracy on a 5-class problem — superior to traditional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16</cp:revision>
  <dcterms:created xsi:type="dcterms:W3CDTF">2013-01-27T09:14:16Z</dcterms:created>
  <dcterms:modified xsi:type="dcterms:W3CDTF">2026-06-24T22:39:32Z</dcterms:modified>
  <cp:category/>
</cp:coreProperties>
</file>